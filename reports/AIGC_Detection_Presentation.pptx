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  <a:latin typeface="Calibri"/>
              </a:defRPr>
            </a:pPr>
            <a:r>
              <a:t>AI 生成文本的特征挖掘与检测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0" y="2834640"/>
            <a:ext cx="64008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0E0E0"/>
                </a:solidFill>
                <a:latin typeface="Calibri"/>
              </a:defRPr>
            </a:pPr>
            <a:r>
              <a:t>Feature Mining and Detection of AI-Generated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数据挖掘课程期末项目 (CS306) — 方向一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赖海斌  |  2026 年 6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问题定义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核心任务：区分人类文本 vs AI 生成文本 (二分类)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6B"/>
                </a:solidFill>
                <a:latin typeface="Calibri"/>
              </a:defRPr>
            </a:pPr>
            <a:r>
              <a:t>多模型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11+ 种生成器</a:t>
            </a:r>
            <a:br/>
            <a:r>
              <a:t>GPT-2 → GPT-4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多领域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新闻/诗歌/摘要</a:t>
            </a:r>
            <a:br/>
            <a:r>
              <a:t>领域差异大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  <a:latin typeface="Calibri"/>
              </a:defRPr>
            </a:pPr>
            <a:r>
              <a:t>对抗攻击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释义/同义词替换</a:t>
            </a:r>
            <a:br/>
            <a:r>
              <a:t>11 种规避手段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83480" y="1828800"/>
            <a:ext cx="1280160" cy="1463040"/>
          </a:xfrm>
          <a:prstGeom prst="roundRect">
            <a:avLst/>
          </a:prstGeom>
          <a:solidFill>
            <a:srgbClr val="202848"/>
          </a:solidFill>
          <a:ln w="2540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74920" y="1874519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B71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24028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不只要判定</a:t>
            </a:r>
            <a:br/>
            <a:r>
              <a:t>要说明为什么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现有方法 vs 我们的方法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25603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深度学习黑盒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AAAAAA"/>
                </a:solidFill>
                <a:latin typeface="Calibri"/>
              </a:defRPr>
            </a:pPr>
            <a:r>
              <a:t>零样本方法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AA"/>
                </a:solidFill>
                <a:latin typeface="Calibri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CB71"/>
                </a:solidFill>
                <a:latin typeface="Calibri"/>
              </a:defRPr>
            </a:pPr>
            <a:r>
              <a:t>我们 (XGBoost)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可解释性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黑盒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部分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389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完全可解释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603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~0.98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0.78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0.999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速度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慢 (GPU)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快 (CPU)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泛化性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603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需重训练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6B6B"/>
                </a:solidFill>
                <a:latin typeface="Calibri"/>
              </a:defRPr>
            </a:pPr>
            <a:r>
              <a:t>不稳定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5623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特征组合灵活</a:t>
            </a:r>
          </a:p>
        </p:txBody>
      </p:sp>
      <p:pic>
        <p:nvPicPr>
          <p:cNvPr id="39" name="Picture 38" descr="raid_model_domai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88720"/>
            <a:ext cx="5029200" cy="27432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8580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Calibri"/>
              </a:defRPr>
            </a:pPr>
            <a:r>
              <a:t>RAID: 11 生成器 × 8 领域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从 GPT-2 到 GPT-4, 覆盖全代际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我们的目标：用 118 维可解释特征 + XGBoost, 在 RAID 上超越零样本方法, 并揭示特征的"有效期"规律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数据集总览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RAID (主实验)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6459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ACL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6459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467K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11 生成器, 8 领域, 11 攻击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HC3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5603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对比实验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560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85K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ChatGPT 单模型, 4 QA 领域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74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SemEval 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4747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747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154K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多模型多领域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3891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TuringBench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3891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441K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389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19 模型 (GPT-1~3 时代)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E0E0"/>
                </a:solidFill>
                <a:latin typeface="Calibri"/>
              </a:defRPr>
            </a:pPr>
            <a:r>
              <a:t>Pile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303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  <a:latin typeface="Calibri"/>
              </a:defRPr>
            </a:pPr>
            <a:r>
              <a:t>辅助验证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53035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1.39M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3035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GPT-2 生成, 混合领域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  <a:latin typeface="Calibri"/>
              </a:defRPr>
            </a:pPr>
            <a:r>
              <a:t>RAID 是目前最全面的 AI 文本检测基准，覆盖从 GPT-2 到 GPT-4 的全代际生成器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方法概览：两层 118 维特征体系 + XGBoost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Layer 1: Model-Free (~36维)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不依赖任何神经网络, 纯文本统计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basic_counts (4): 词/字符/句/段数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averages (4): 平均词长/句长/段长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variability (2): 词长/句长标准差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lexical_richness (7): TTR, Hapax, Yule's K...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punctuation (11): 标点使用率 + 大写/数字比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readability (7): Flesch, Gunning Fog, SMOG...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structure (1): 短句比例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Layer 2: Model-Based (82维)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需要预训练模型推理, 不同参考模型有不同"有效期"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BERT embedding → PCA (50维)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语义空间分布, 捕捉风格差异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GPT-2 perplexity (2维)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文本级困惑度, 检测"GPT家族"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Mistral-7B token 概率 (30维)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逐 token log-prob / rank / entropy</a:t>
            </a:r>
          </a:p>
          <a:p>
            <a:pPr>
              <a:spcAft>
                <a:spcPts val="780"/>
              </a:spcAft>
              <a:defRPr sz="1300">
                <a:solidFill>
                  <a:srgbClr val="E0E0E0"/>
                </a:solidFill>
                <a:latin typeface="Calibri"/>
              </a:defRPr>
            </a:pPr>
            <a:r>
              <a:t>  检测同代 AI 的"选词指纹"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Model-Free (36维)  +  Model-Based (82维)  =  118维 → XGBoost → SHAP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Step 1: 多维度特征工程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词汇丰富度: TTR, Hapax ratio, Yule's K (AI 用词重复)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可读性评分: Flesch-Kincaid, Gunning Fog (AI 偏好中等难度)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行文模式: 段落结构规则性、句长波动 (AI 缺乏节奏变化)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029200"/>
            <a:ext cx="5486400" cy="1371600"/>
          </a:xfrm>
          <a:prstGeom prst="roundRect">
            <a:avLst/>
          </a:prstGeom>
          <a:solidFill>
            <a:srgbClr val="202848"/>
          </a:solidFill>
          <a:ln w="19050">
            <a:solidFill>
              <a:srgbClr val="4EC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029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Step 2: 模型构建与特征筛选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534924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XGBoost / Random Forest / LR 对比, 选最优分类器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相关性分析 + 消融实验剔除冗余特征</a:t>
            </a:r>
          </a:p>
          <a:p>
            <a:pPr>
              <a:spcAft>
                <a:spcPts val="600"/>
              </a:spcAft>
              <a:defRPr sz="1000">
                <a:solidFill>
                  <a:srgbClr val="E0E0E0"/>
                </a:solidFill>
                <a:latin typeface="Calibri"/>
              </a:defRPr>
            </a:pPr>
            <a:r>
              <a:t>SHAP 归因分析验证每个特征的贡献与可解释性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手工特征详解：词汇丰富度 &amp; 可读性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Lexical Richness (词汇丰富度) — 7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Type-Token Ratio (TTR)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不重复词数 / 总词数, 衡量词汇多样性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倾向反复使用"furthermore, however, overall"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Hapax Legomena Ratio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只出现一次的词占比, 人类用词更"独特"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Yule's K &amp; Simpson's Diversity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基于词频分布的数学度量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Yule's K 越大 → 词汇越集中(越像 AI)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Brunet's W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W = N^(V^-0.172), 对文本长度鲁棒的丰富度指标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Readability (可读性) — 7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 Reading Ease  (0-100)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206.835 - 1.015×(词/句) - 84.6×(音节/词)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文本通常 50-65 分, 人类分布更广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Flesch-Kincaid Grade Level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输出"需要几年级才能读懂", AI 偏好 9-12 级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Gunning Fog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关注"复杂词"(≥3音节)的比例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Coleman-Liau Index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基于字符数而非音节, 更适合计算机处理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SMOG, ARI, Dale-Chall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不同侧面的可读性评估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倾向于生成"中等难度"的文本 (Flesch 50-65), 而人类文本的可读性分布更极端 (20-90+)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模型衍生特征详解：语义嵌入 &amp; 困惑度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结构 &amp; 标点 (纯统计特征) — 16 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words_per_paragraph  (RAID 最强单特征, AUC 0.89)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平均每段 ~70 词, 人类 ~200 词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喜欢"分点陈述", 段落短而规则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sentence_length_std  (AUC 0.83)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的句子长度标准差更小 → 节奏更"机械"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人类写作句长波动大 (短句+长句交替)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标点使用率: 逗号、问号、感叹号、冒号...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很少用感叹号, 问号使用更规范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人类更随意: "!!!" "..." "—"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  <a:latin typeface="Calibri"/>
              </a:defRPr>
            </a:pPr>
            <a:r>
              <a:t>模型衍生特征 (Layer 2) — 52 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BERT Sentence Embedding → PCA 50 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将文本映射到 BERT 语义空间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PCA 降维后保留主要语义方向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文本在语义空间中更"集中"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GPT-2 Perplexity (2 维)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原始困惑度 + log 困惑度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HC3 上是最强特征 (AUC 0.99)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但 RAID 上完全失效 (AUC 0.49)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→ Perplexity Paradox (后面详述)</a:t>
            </a:r>
          </a:p>
        </p:txBody>
      </p:sp>
      <p:pic>
        <p:nvPicPr>
          <p:cNvPr id="8" name="Picture 7" descr="raid_single_feature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389120"/>
            <a:ext cx="109728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概率特征：Case Study 热力图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9728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如何阅读热力图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8288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每个格子 = 一个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颜色 = Mistral-7B 给出的 log-prob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深绿 = 高概率 ("意料之中")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深红 = 低概率 ("出乎意料")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人类文本 (上半部分):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红色格子多 → 用词"出人意料"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log-prob 分布更分散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AI 文本 (下半部分):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几乎全绿 → token 选择"可预测"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倾向选择高概率的 token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→ 这就是 rank_top1_frac 能区分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vs 人类的直觉来源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AI 生成的文本在 Mistral 眼中"一路绿灯" — 每个 token 都是高概率选择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Token 特征的统计分布：Human vs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token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 Token 特征解读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8288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rank_top1_frac (top-1 命中率)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~0.72  人类: ~0.58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有 72% 的 token 是 Mistral 的首选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lp_mean (平均 log-probability)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 -1.8  人类: ~ -2.8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文本整体"更可预测"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ent_mean (平均 entropy)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AI: ~1.5  人类: ~2.2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  AI 选词更"确定", 人类更"随机"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这 3 个特征在 RAID 的 SHAP 分析中</a:t>
            </a:r>
          </a:p>
          <a:p>
            <a:pPr>
              <a:spcAft>
                <a:spcPts val="840"/>
              </a:spcAft>
              <a:defRPr sz="1400">
                <a:solidFill>
                  <a:srgbClr val="E0E0E0"/>
                </a:solidFill>
                <a:latin typeface="Calibri"/>
              </a:defRPr>
            </a:pPr>
            <a:r>
              <a:t>都位列 Top-15, 与手工特征互补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Violin plot 清晰展示: AI 的 token 概率分布更"确定"(高 lp, 高 rank, 低 entropy)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RAID 主实验结果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in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43600" cy="292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2FF"/>
                </a:solidFill>
                <a:latin typeface="Calibri"/>
              </a:defRPr>
            </a:pPr>
            <a:r>
              <a:t>关键数字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(118 组合):  AUC 0.9992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(88 手工):    AUC 0.9951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(30 Token):   AUC 0.9900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Random Forest (88):   AUC 0.9923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LR (88):                   AUC 0.9653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Fast-DetectGPT:         AUC 0.7815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组合 vs 88 手工: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AUC +0.0041, Acc 99.15%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完全可解释 + 超越零样本方法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单特征判别力分析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single_feature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7148384"/>
          </a:xfrm>
          <a:prstGeom prst="rect">
            <a:avLst/>
          </a:prstGeom>
        </p:spPr>
      </p:pic>
      <p:pic>
        <p:nvPicPr>
          <p:cNvPr id="5" name="Picture 4" descr="raid_single_feature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622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words_per_paragraph (AUC 0.89) 是最强单特征 — AI 倾向于生成规则的段落结构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特征组消融实验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feature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943600" cy="35364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关键发现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basic_counts (4维) 单组即达 AUC 0.97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文本长度是最稳定的跨模型信号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perplexity (2维) AUC 仅 0.49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GPT-2 困惑度在多模型场景完全失效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但在 HC3 (ChatGPT) 上是最强特征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embedding_pca (50维) AUC 0.94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→ BERT 语义嵌入捕捉了细微风格差异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SHAP 可解释性分析 (118 维)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120_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5486400" cy="9363269"/>
          </a:xfrm>
          <a:prstGeom prst="rect">
            <a:avLst/>
          </a:prstGeom>
        </p:spPr>
      </p:pic>
      <p:pic>
        <p:nvPicPr>
          <p:cNvPr id="5" name="Picture 4" descr="raid_shap_depen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188720"/>
            <a:ext cx="5943600" cy="3277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SHAP 揭示两类特征交错出现在 Top-30 — XGBoost 同时利用两个视角做决策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Perplexity Paradox: 困惑度的两面性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HC3 (ChatGPT 单模型)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0.9912 (最强特征!)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ChatGPT 与 GPT-2 同属 GPT 家族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共享 BPE tokenizer 和相似概率分布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困惑度能精准区分"GPT 系输出"与人类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RAID (11 个生成器)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GPT-2 Perplexity AUC = 0.4920 (比随机还差!)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Llama, MPT, Cohere 的概率分布与 GPT 完全不同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困惑度在方向上甚至是反的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→ 困惑度不是检测"AI 生成"，是检测"GPT 系生成"</a:t>
            </a:r>
          </a:p>
        </p:txBody>
      </p:sp>
      <p:pic>
        <p:nvPicPr>
          <p:cNvPr id="8" name="Picture 7" descr="domain_featu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两类特征的互补机制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3716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手工特征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Token 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观察角度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11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"文本长什么样"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"文本在 LLM 眼中像什么"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信号来源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788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宏观结构 / 风格 / 词汇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微观 token 概率分布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物理类比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566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用肉眼看一幅画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3566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用光谱仪分析颜料成分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强项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+ 跨模型稳定信号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3434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同代新 AI (概率差异明显)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1206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6B"/>
                </a:solidFill>
                <a:latin typeface="Calibri"/>
              </a:defRPr>
            </a:pPr>
            <a:r>
              <a:t>弱项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新 AI (表面统计趋近人类)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0E0E0"/>
                </a:solidFill>
                <a:latin typeface="Calibri"/>
              </a:defRPr>
            </a:pPr>
            <a:r>
              <a:t>老 AI (跨代概率失配)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ECB71"/>
                </a:solidFill>
                <a:latin typeface="Calibri"/>
              </a:defRPr>
            </a:pPr>
            <a:r>
              <a:t>互补效果: Cohere 检测率 90.4% → 94.5% (token 补上手工盲区), GPT-2 手工已 &gt;99% (兜底老模型)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Token 特征的"时代近视"现象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2019-2020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GPT-1/2/3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645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ChatGPT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743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  <a:latin typeface="Calibri"/>
              </a:defRPr>
            </a:pPr>
            <a:r>
              <a:t>Token AUC ≈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404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AAAAA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Mistral-7B (观察者)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AAAAA"/>
                </a:solidFill>
                <a:latin typeface="Calibri"/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937759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2023-2024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GPT-4/Claude/Cohere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937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ECB71"/>
                </a:solidFill>
                <a:latin typeface="Calibri"/>
              </a:defRPr>
            </a:pPr>
            <a:r>
              <a:t>Token AUC = 0.99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D2FF"/>
                </a:solidFill>
                <a:latin typeface="Calibri"/>
              </a:defRPr>
            </a:pPr>
            <a:r>
              <a:t>Mistral-7B 只能看到与自己同代的 AI "指纹" — 观察者模型需要及时更新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Per-Generator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generator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88720"/>
            <a:ext cx="5943600" cy="4723863"/>
          </a:xfrm>
          <a:prstGeom prst="rect">
            <a:avLst/>
          </a:prstGeom>
        </p:spPr>
      </p:pic>
      <p:pic>
        <p:nvPicPr>
          <p:cNvPr id="5" name="Picture 4" descr="raid_120_per_gen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33709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不同生成器有不同的"特征指纹" — 118 维在 Cohere/ChatGPT 上提升最大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对抗攻击鲁棒性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id_adversa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400800" cy="23653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132320" y="13716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0116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10/11 种攻击几乎无效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统计特征对表面扰动有天然鲁棒性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唯一有效攻击: Paraphrase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AUC 从 0.9951 降至 0.7902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因为释义改变了文本的宏观结构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启示: 需要引入语义相似度特征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  来防御释义攻击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跨数据集验证 (5 数据集完整结果)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88-feat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30-tok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118-mix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2801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Delta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2801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RAID (多代际)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0.9951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0.9992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19202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ECB71"/>
                </a:solidFill>
                <a:latin typeface="Calibri"/>
              </a:defRPr>
            </a:pPr>
            <a:r>
              <a:t>+0.004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20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两侧有信号 → 互补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SemEval (纯新AI)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0.5136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0.8443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0" y="26060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-0.132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噪声稀释!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TuringBench (纯老AI)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0.9899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0.9847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2918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3291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token噪声少,影响小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HC3 (单模型)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  <a:latin typeface="Calibri"/>
              </a:defRPr>
            </a:pPr>
            <a:r>
              <a:t>0.4986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3977639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9776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已饱和,无提升空间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  <a:latin typeface="Calibri"/>
              </a:defRPr>
            </a:pPr>
            <a:r>
              <a:t>Pile (老模型)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0.9735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0.5026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AA"/>
                </a:solidFill>
                <a:latin typeface="Calibri"/>
              </a:defRPr>
            </a:pPr>
            <a:r>
              <a:t>0.9727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663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-0.001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18320" y="4663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AA"/>
                </a:solidFill>
                <a:latin typeface="Calibri"/>
              </a:defRPr>
            </a:pPr>
            <a:r>
              <a:t>同上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核心规律: 118 组合只在两侧特征都有信号时互补增强 (RAID)</a:t>
            </a:r>
            <a:br/>
            <a:r>
              <a:t>当一侧是纯噪声时，噪声特征越多稀释越严重 (SemEval: 88噪声 vs 30有效 → AUC -0.13)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6B6B"/>
                </a:solidFill>
                <a:latin typeface="Calibri"/>
              </a:defRPr>
            </a:pPr>
            <a:r>
              <a:t>SemEval: 噪声特征稀释现象剖析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为什么 90-feat 在 SemEval 上失效?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88 个特征中 没有一个 AUC &gt; 0.55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最好的 emb_pca_39 也只有 AUC = 0.5159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说明 GPT-4/Claude 3 等新 AI 已经在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词汇多样性、句法结构、可读性等所有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表面统计维度上与人类文本无法区分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手工特征的"保质期"正在到来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XGBoost 的过拟合机制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118 维模型中 42.7% importance → 噪声特征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  punct_semicolon_rate: imp=0.079 (纯噪声!)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噪声特征在训练集上碰巧与标签相关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XGBoost 把虚假相关当作信号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测试集上虚假信号不成立 → 拖累预测</a:t>
            </a: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900"/>
              </a:spcAft>
              <a:defRPr sz="1500">
                <a:solidFill>
                  <a:srgbClr val="E0E0E0"/>
                </a:solidFill>
                <a:latin typeface="Calibri"/>
              </a:defRPr>
            </a:pPr>
            <a:r>
              <a:t>→ 88 个噪声 vs 30 个有效 = 稀释严重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逐步加入 90-feat 的效果 (越多噪声越差):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30 tok 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top5 90-feat (35维)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B71"/>
                </a:solidFill>
                <a:latin typeface="Calibri"/>
              </a:defRPr>
            </a:pPr>
            <a:r>
              <a:t>AUC = 0.9719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top10 90-feat (40维)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C107"/>
                </a:solidFill>
                <a:latin typeface="Calibri"/>
              </a:defRPr>
            </a:pPr>
            <a:r>
              <a:t>AUC = 0.9436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50292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+ all 88 feat (118维)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53949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6B"/>
                </a:solidFill>
                <a:latin typeface="Calibri"/>
              </a:defRPr>
            </a:pPr>
            <a:r>
              <a:t>AUC = 0.8443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00D2FF"/>
                </a:solidFill>
                <a:latin typeface="Calibri"/>
              </a:defRPr>
            </a:pPr>
            <a:r>
              <a:t>启示: Model-Free 特征的"有效期"已过 — 新 AI 在统计上逼近人类, 需要同代参考模型的 token 特征来检测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4ECB71"/>
                </a:solidFill>
                <a:latin typeface="Calibri"/>
              </a:defRPr>
            </a:pPr>
            <a:r>
              <a:t>特征"有效期"总结：按目标选参考模型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各特征层的有效范围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特征层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有效目标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Calibri"/>
              </a:defRPr>
            </a:pPr>
            <a:r>
              <a:t>失效目标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Model-Free (36d)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老 AI (RAID=0.994)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774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新 AI (SemEval=0.52)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63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E0E0"/>
                </a:solidFill>
                <a:latin typeface="Calibri"/>
              </a:defRPr>
            </a:pPr>
            <a:r>
              <a:t>BERT-emb (50d)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HC3=0.88, Pile=0.90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0632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SemEval=0.50, TB=0.54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6B"/>
                </a:solidFill>
                <a:latin typeface="Calibri"/>
              </a:defRPr>
            </a:pPr>
            <a:r>
              <a:t>GPT2-ppl (2d)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GPT系: HC3=0.99, TB=0.97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74903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非GPT: RAID=0.49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ECB71"/>
                </a:solidFill>
                <a:latin typeface="Calibri"/>
              </a:defRPr>
            </a:pPr>
            <a:r>
              <a:t>Mistral-token (30d)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ECB71"/>
                </a:solidFill>
                <a:latin typeface="Calibri"/>
              </a:defRPr>
            </a:pPr>
            <a:r>
              <a:t>同代: RAID=0.99, SE=0.98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4434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6B6B"/>
                </a:solidFill>
                <a:latin typeface="Calibri"/>
              </a:defRPr>
            </a:pPr>
            <a:r>
              <a:t>老AI: HC3=0.50, TB=0.52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部署策略：先判断目标 AI 的时代，再选合适的特征层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 GPT 系 (ChatGPT)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GPT2-ppl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HC3: AUC 1.000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检测同代新 AI (GPT-4/Claude)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59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Model-Free + Mistral-token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RAID: AUC 0.999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3035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Calibri"/>
              </a:defRPr>
            </a:pPr>
            <a:r>
              <a:t>未知目标 / 混合场景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55778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全部 118 维 + 组级信号检测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852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B71"/>
                </a:solidFill>
                <a:latin typeface="Calibri"/>
              </a:defRPr>
            </a:pPr>
            <a:r>
              <a:t>按需丢弃噪声组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两层消融 + Model-Based Sub-group 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73152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laye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8580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2801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Calibri"/>
              </a:defRPr>
            </a:pPr>
            <a:r>
              <a:t>核心发现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Model-Based 三个 sub-group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行为完全不同: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BERT-emb: HC3/Pile 有效,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SemEval/TB 失效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GPT2-ppl: HC3=0.99, TB=0.97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RAID=0.49 (Perplexity Paradox)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Mistral-token: RAID=0.99,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SemEval=0.98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但 HC3/TB/Pile ≈ 0.50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→ 每个参考模型都有自己的</a:t>
            </a:r>
          </a:p>
          <a:p>
            <a:pPr>
              <a:spcAft>
                <a:spcPts val="719"/>
              </a:spcAft>
              <a:defRPr sz="1200">
                <a:solidFill>
                  <a:srgbClr val="E0E0E0"/>
                </a:solidFill>
                <a:latin typeface="Calibri"/>
              </a:defRPr>
            </a:pPr>
            <a:r>
              <a:t>  "有效期", 取决于目标 AI 的时代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  <a:latin typeface="Calibri"/>
              </a:defRPr>
            </a:pPr>
            <a:r>
              <a:t>RAID vs HC3: 特征组消融对比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特征组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RAID AUC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HC3 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371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Calibri"/>
              </a:defRPr>
            </a:pPr>
            <a:r>
              <a:t>启示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basic_counts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0.9204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averages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0.9425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2651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RAID 更强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lexical_richness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0.8861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0.9367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291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更强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readability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0.8500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931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0.9741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3931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HC3 远优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perplexity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0.4920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0.9912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5720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6B6B"/>
                </a:solidFill>
                <a:latin typeface="Calibri"/>
              </a:defRPr>
            </a:pPr>
            <a:r>
              <a:t>完全反转!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embedding_pca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0.9357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212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0.8972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5212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接近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  <a:latin typeface="Calibri"/>
              </a:defRPr>
            </a:pPr>
            <a:r>
              <a:t>核心启示: 多模型检测不能依赖单一语言模型的困惑度 — 需要模型无关的统计特征作为稳定基线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结论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1. 两层 118 维特征体系在 RAID 上达 AUC 0.9992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Model-Free (36维) + Model-Based (82维), 完全可解释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2. Model-Based 内部三个 sub-group 各有"有效期"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BERT-emb: 通用语义特征, HC3/Pile 有效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GPT2-ppl: 只认 GPT 家族 (HC3=0.99, RAID=0.49)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Mistral-token: 只认同代 AI (SemEval=0.98, TB=0.52)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3. Model-Free 对老 AI 有效 (RAID=0.994)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但新 AI 已在统计上逼近人类 (SemEval=0.52)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4. 盲目合并会更差 (噪声稀释)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SemEval: model-based=0.961 &gt; all=0.847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5. 部署策略: 按目标 AI 时代选择合适的参考模型</a:t>
            </a:r>
          </a:p>
          <a:p>
            <a:pPr>
              <a:spcAft>
                <a:spcPts val="720"/>
              </a:spcAft>
              <a:defRPr sz="1800">
                <a:solidFill>
                  <a:srgbClr val="E0E0E0"/>
                </a:solidFill>
                <a:latin typeface="Calibri"/>
              </a:defRPr>
            </a:pPr>
            <a:r>
              <a:t>    没有"万能特征", 观察者模型需定期更新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  <a:latin typeface="Calibri"/>
              </a:defRPr>
            </a:pPr>
            <a:r>
              <a:t>未来方向与部署建议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6576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CB71"/>
                </a:solidFill>
                <a:latin typeface="Calibri"/>
              </a:defRPr>
            </a:pPr>
            <a:r>
              <a:t>未来工作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引入语义相似度特征防御释义攻击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多观察者模型集成 (Mistral + Qwen + Llama)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动态特征选择: 根据文本领域自动调整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探索更多 token 统计: burstiness, curvature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在 SemEval/TuringBench 全量数据验证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6B"/>
                </a:solidFill>
                <a:latin typeface="Calibri"/>
              </a:defRPr>
            </a:pPr>
            <a:r>
              <a:t>部署建议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以模型无关的手工特征作为稳定基线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辅以同代 LLM token 特征覆盖新生成器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观察者模型需要定期更新 (半年一次)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跨域部署需注意领域差异 (诗歌 vs 新闻)</a:t>
            </a:r>
          </a:p>
          <a:p>
            <a:pPr>
              <a:spcAft>
                <a:spcPts val="960"/>
              </a:spcAft>
              <a:defRPr sz="1600">
                <a:solidFill>
                  <a:srgbClr val="E0E0E0"/>
                </a:solidFill>
                <a:latin typeface="Calibri"/>
              </a:defRPr>
            </a:pPr>
            <a:r>
              <a:t>提供 SHAP 解释以增强用户信任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00D2FF"/>
                </a:solidFill>
                <a:latin typeface="Calibri"/>
              </a:defRPr>
            </a:pPr>
            <a:r>
              <a:t>"手工特征看文本的外表，Token 概率特征看文本在 AI 眼中的内在。</a:t>
            </a:r>
            <a:br/>
            <a:r>
              <a:t>当一个视角被欺骗时，另一个视角往往能看穿。这就是 118 维组合的力量。"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657600"/>
            <a:ext cx="4572000" cy="381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Calibri"/>
              </a:defRPr>
            </a:pPr>
            <a: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代码: github.com/HaibinLai/HC3  |  赖海斌  |  CS306 数据挖掘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