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2FF"/>
                </a:solidFill>
                <a:latin typeface="Calibri"/>
              </a:defRPr>
            </a:pPr>
            <a:r>
              <a:t>AI 生成文本的特征挖掘与检测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2834640"/>
            <a:ext cx="6400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0E0E0"/>
                </a:solidFill>
                <a:latin typeface="Calibri"/>
              </a:defRPr>
            </a:pPr>
            <a:r>
              <a:t>Feature Mining and Detection of AI-Generated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AA"/>
                </a:solidFill>
                <a:latin typeface="Calibri"/>
              </a:defRPr>
            </a:pPr>
            <a:r>
              <a:t>数据挖掘课程期末项目 (CS306) — 方向一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AAAA"/>
                </a:solidFill>
                <a:latin typeface="Calibri"/>
              </a:defRPr>
            </a:pPr>
            <a:r>
              <a:t>赖海斌  |  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问题定义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核心任务：区分人类文本 vs AI 生成文本 (二分类)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1: 多模型 — 11+ 种 AI 生成器，特征各异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2: 多领域 — 新闻、诗歌、学术摘要等差异大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3: 对抗攻击 — 释义、同义词替换等规避手段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4: 可解释性 — 不能只给判定，要说明为什么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我们的目标：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用可解释的统计特征 + 轻量机器学习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替代不可解释的深度学习黑盒</a:t>
            </a:r>
          </a:p>
        </p:txBody>
      </p:sp>
      <p:pic>
        <p:nvPicPr>
          <p:cNvPr id="5" name="Picture 4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572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数据集总览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RAID (主实验)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6459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ACL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6459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467K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645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11 生成器, 8 领域, 11 攻击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HC3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560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对比实验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560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85K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ChatGPT 单模型, 4 QA 领域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SemEval 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4747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74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154K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多模型多领域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TuringBench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389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3891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441K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389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19 模型 (GPT-1~3 时代)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Pile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303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3035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1.39M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303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GPT-2 生成, 混合领域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Calibri"/>
              </a:defRPr>
            </a:pPr>
            <a:r>
              <a:t>RAID 是目前最全面的 AI 文本检测基准，覆盖从 GPT-2 到 GPT-4 的全代际生成器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方法概览：三层 120 维特征体系 + XGBoost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Layer 1: 纯统计特征 (~36维)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737360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basic_counts (4): 词/字符/句/段数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averages (4): 平均词长/句长/段长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variability (2): 词长/句长标准差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lexical_richness (7): TTR, Hapax...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punctuation (11): 标点 + 大写/数字比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readability (7): Flesch, SMOG...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structure (1): 短句比例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不依赖任何神经网络, 纯公式计算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280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A500"/>
                </a:solidFill>
                <a:latin typeface="Calibri"/>
              </a:defRPr>
            </a:pPr>
            <a:r>
              <a:t>Layer 2: 模型衍生特征 (52维)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737360"/>
            <a:ext cx="3657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BERT embedding → PCA (50维)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将文本映射到语义空间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AI 文本语义分布更集中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GPT-2 perplexity (2维)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文本级别的困惑度汇总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HC3 最强特征 (AUC 0.99)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RAID 完全失效 (AUC 0.49)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→ 模型依赖性是其本质属性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2801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B71"/>
                </a:solidFill>
                <a:latin typeface="Calibri"/>
              </a:defRPr>
            </a:pPr>
            <a:r>
              <a:t>Layer 3: Token 概率特征 (30维)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737360"/>
            <a:ext cx="3840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观察者: Mistral-7B-Instruct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Log-prob (10): mean, std, min,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max, median, q10, q90, skew...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Rank (8): mean, std, median,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top-1/5/10/100 fraction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Entropy (6): mean, std, min,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max, median, skew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逐 token 粒度, 看 AI 的"选词指纹"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纯统计 (36维)  +  模型衍生 (52维)  +  Token级 (30维)  =  118维 (去重后)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303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→  Auto-Filter (丢噪声组)  →  XGBoost (500 trees, depth 8)  →  SHAP 可解释分析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三层特征从不同粒度和视角刻画文本: 表面统计 → 语义嵌入 → Token 概率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手工特征详解：词汇丰富度 &amp; 可读性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Lexical Richness (词汇丰富度) — 7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Type-Token Ratio (TTR)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不重复词数 / 总词数, 衡量词汇多样性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倾向反复使用"furthermore, however, overall"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Hapax Legomena Ratio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只出现一次的词占比, 人类用词更"独特"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Yule's K &amp; Simpson's Diversity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基于词频分布的数学度量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Yule's K 越大 → 词汇越集中(越像 AI)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Brunet's W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W = N^(V^-0.172), 对文本长度鲁棒的丰富度指标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Readability (可读性) — 7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 Reading Ease  (0-100)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206.835 - 1.015×(词/句) - 84.6×(音节/词)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文本通常 50-65 分, 人类分布更广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Flesch-Kincaid Grade Level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输出"需要几年级才能读懂", AI 偏好 9-12 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Gunning Fog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关注"复杂词"(≥3音节)的比例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Coleman-Liau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基于字符数而非音节, 更适合计算机处理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SMOG, ARI, Dale-Chall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不同侧面的可读性评估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倾向于生成"中等难度"的文本 (Flesch 50-65), 而人类文本的可读性分布更极端 (20-90+)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模型衍生特征详解：语义嵌入 &amp; 困惑度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结构 &amp; 标点 (纯统计特征) — 16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words_per_paragraph  (RAID 最强单特征, AUC 0.89)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平均每段 ~70 词, 人类 ~200 词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喜欢"分点陈述", 段落短而规则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sentence_length_std  (AUC 0.83)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的句子长度标准差更小 → 节奏更"机械"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人类写作句长波动大 (短句+长句交替)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标点使用率: 逗号、问号、感叹号、冒号...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很少用感叹号, 问号使用更规范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人类更随意: "!!!" "..." "—"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A500"/>
                </a:solidFill>
                <a:latin typeface="Calibri"/>
              </a:defRPr>
            </a:pPr>
            <a:r>
              <a:t>模型衍生特征 (Layer 2) — 52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BERT Sentence Embedding → PCA 50 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将文本映射到 BERT 语义空间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PCA 降维后保留主要语义方向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文本在语义空间中更"集中"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GPT-2 Perplexity (2 维)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原始困惑度 + log 困惑度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HC3 上是最强特征 (AUC 0.99)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但 RAID 上完全失效 (AUC 0.49)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→ Perplexity Paradox (后面详述)</a:t>
            </a:r>
          </a:p>
        </p:txBody>
      </p:sp>
      <p:pic>
        <p:nvPicPr>
          <p:cNvPr id="8" name="Picture 7" descr="raid_single_feature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389120"/>
            <a:ext cx="109728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概率特征：Case Study 热力图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如何阅读热力图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每个格子 = 一个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颜色 = Mistral-7B 给出的 log-prob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深绿 = 高概率 ("意料之中")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深红 = 低概率 ("出乎意料")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人类文本 (上半部分):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红色格子多 → 用词"出人意料"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log-prob 分布更分散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AI 文本 (下半部分):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几乎全绿 → token 选择"可预测"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倾向选择高概率的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→ 这就是 rank_top1_frac 能区分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vs 人类的直觉来源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生成的文本在 Mistral 眼中"一路绿灯" — 每个 token 都是高概率选择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特征的统计分布：Human vs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核心 Token 特征解读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8288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rank_top1_frac (top-1 命中率)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~0.72  人类: ~0.58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有 72% 的 token 是 Mistral 的首选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lp_mean (平均 log-probability)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 -1.8  人类: ~ -2.8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文本整体"更可预测"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ent_mean (平均 entropy)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~1.5  人类: ~2.2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选词更"确定", 人类更"随机"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这 3 个特征在 RAID 的 SHAP 分析中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都位列 Top-15, 与手工特征互补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Violin plot 清晰展示: AI 的 token 概率分布更"确定"(高 lp, 高 rank, 低 entropy)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RAID 主实验结果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in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943600" cy="2931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2FF"/>
                </a:solidFill>
                <a:latin typeface="Calibri"/>
              </a:defRPr>
            </a:pPr>
            <a:r>
              <a:t>关键数字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10312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XGBoost (120 组合):  AUC 0.9992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XGBoost (90 手工):   AUC 0.9951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XGBoost (30 Token):  AUC 0.9900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Random Forest (90):  AUC 0.9923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LR (90):             AUC 0.9653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Fast-DetectGPT:      AUC 0.7815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120 组合 vs 90 手工: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AUC +0.0041, Acc 99.15%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完全可解释 + 超越零样本方法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单特征判别力分析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single_feature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7148384"/>
          </a:xfrm>
          <a:prstGeom prst="rect">
            <a:avLst/>
          </a:prstGeom>
        </p:spPr>
      </p:pic>
      <p:pic>
        <p:nvPicPr>
          <p:cNvPr id="5" name="Picture 4" descr="raid_single_feature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6222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words_per_paragraph (AUC 0.89) 是最强单特征 — AI 倾向于生成规则的段落结构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特征组消融实验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eatur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35364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关键发现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basic_counts (4维) 单组即达 AUC 0.97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文本长度是最稳定的跨模型信号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perplexity (2维) AUC 仅 0.49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GPT-2 困惑度在多模型场景完全失效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但在 HC3 (ChatGPT) 上是最强特征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embedding_pca (50维) AUC 0.94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BERT 语义嵌入捕捉了细微风格差异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SHAP 可解释性分析 (120 维)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120_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486400" cy="9363269"/>
          </a:xfrm>
          <a:prstGeom prst="rect">
            <a:avLst/>
          </a:prstGeom>
        </p:spPr>
      </p:pic>
      <p:pic>
        <p:nvPicPr>
          <p:cNvPr id="5" name="Picture 4" descr="raid_shap_depen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188720"/>
            <a:ext cx="5943600" cy="3277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SHAP 揭示两类特征交错出现在 Top-30 — XGBoost 同时利用两个视角做决策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Perplexity Paradox: 困惑度的两面性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HC3 (ChatGPT 单模型)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0.9912 (最强特征!)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ChatGPT 与 GPT-2 同属 GPT 家族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共享 BPE tokenizer 和相似概率分布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困惑度能精准区分"GPT 系输出"与人类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RAID (11 个生成器)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0.4920 (比随机还差!)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Llama, MPT, Cohere 的概率分布与 GPT 完全不同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困惑度在方向上甚至是反的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→ 困惑度不是检测"AI 生成"，是检测"GPT 系生成"</a:t>
            </a:r>
          </a:p>
        </p:txBody>
      </p:sp>
      <p:pic>
        <p:nvPicPr>
          <p:cNvPr id="8" name="Picture 7" descr="domain_featu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两类特征的互补机制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371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手工特征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Token 特征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观察角度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"文本长什么样"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"文本在 LLM 眼中像什么"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信号来源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788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宏观结构 / 风格 / 词汇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微观 token 概率分布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物理类比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566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用肉眼看一幅画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566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用光谱仪分析颜料成分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强项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343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+ 跨模型稳定信号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343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同代新 AI (概率差异明显)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弱项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1206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新 AI (表面统计趋近人类)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5120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(跨代概率失配)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ECB71"/>
                </a:solidFill>
                <a:latin typeface="Calibri"/>
              </a:defRPr>
            </a:pPr>
            <a:r>
              <a:t>互补效果: Cohere 检测率 90.4% → 94.5% (token 补上手工盲区), GPT-2 手工已 &gt;99% (兜底老模型)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Token 特征的"时代近视"现象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2019-2020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GPT-1/2/3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404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AAAAA"/>
                </a:solidFill>
                <a:latin typeface="Calibri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Mistral-7B (观察者)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AAAAA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93775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2023-2024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GPT-4/Claude/Cohere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B71"/>
                </a:solidFill>
                <a:latin typeface="Calibri"/>
              </a:defRPr>
            </a:pPr>
            <a:r>
              <a:t>Token AUC = 0.99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D2FF"/>
                </a:solidFill>
                <a:latin typeface="Calibri"/>
              </a:defRPr>
            </a:pPr>
            <a:r>
              <a:t>Mistral-7B 只能看到与自己同代的 AI "指纹" — 观察者模型需要及时更新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Per-Generator 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generator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943600" cy="4723863"/>
          </a:xfrm>
          <a:prstGeom prst="rect">
            <a:avLst/>
          </a:prstGeom>
        </p:spPr>
      </p:pic>
      <p:pic>
        <p:nvPicPr>
          <p:cNvPr id="5" name="Picture 4" descr="raid_120_per_gener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3709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不同生成器有不同的"特征指纹" — 120 维在 Cohere/ChatGPT 上提升最大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对抗攻击鲁棒性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adversa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23653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10/11 种攻击几乎无效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统计特征对表面扰动有天然鲁棒性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唯一有效攻击: Paraphrase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AUC 从 0.9951 降至 0.7902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因为释义改变了文本的宏观结构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启示: 需要引入语义相似度特征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来防御释义攻击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跨数据集验证 (5 数据集完整结果)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90-feat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30-tok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120-mix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Delta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RAID (多代际)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0.9951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0.9992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+0.004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两侧有信号 → 互补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SemEval (纯新AI)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0.5136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0.8443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-0.132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噪声稀释!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TuringBench (纯老AI)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0.9899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0.9847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token噪声少,影响小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HC3 (单模型)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0.4986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已饱和,无提升空间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Pile (老模型)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0.5026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0.9727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同上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核心规律: 120 组合只在两侧特征都有信号时互补增强 (RAID)</a:t>
            </a:r>
            <a:br/>
            <a:r>
              <a:t>当一侧是纯噪声时，噪声特征越多稀释越严重 (SemEval: 88噪声 vs 30有效 → AUC -0.13)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SemEval: 噪声特征稀释现象剖析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为什么 90-feat 在 SemEval 上失效?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88 个特征中 没有一个 AUC &gt; 0.55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最好的 emb_pca_39 也只有 AUC = 0.5159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说明 GPT-4/Claude 3 等新 AI 已经在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词汇多样性、句法结构、可读性等所有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表面统计维度上与人类文本无法区分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手工特征的"保质期"正在到来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XGBoost 的过拟合机制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120 维模型中 42.7% importance → 噪声特征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punct_semicolon_rate: imp=0.079 (纯噪声!)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噪声特征在训练集上碰巧与标签相关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把虚假相关当作信号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测试集上虚假信号不成立 → 拖累预测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88 个噪声 vs 30 个有效 = 稀释严重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逐步加入 90-feat 的效果 (越多噪声越差):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30 tok alone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top5 90-feat (35维)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top10 90-feat (40维)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107"/>
                </a:solidFill>
                <a:latin typeface="Calibri"/>
              </a:defRPr>
            </a:pPr>
            <a:r>
              <a:t>AUC = 0.9436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all 88 feat (118维)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AUC = 0.8443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启示: 生产系统需要特征选择/门控 — 先评估各特征组信号强度，动态决定使用哪些特征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CB71"/>
                </a:solidFill>
                <a:latin typeface="Calibri"/>
              </a:defRPr>
            </a:pPr>
            <a:r>
              <a:t>解决方案: Auto-Filter 噪声特征自动过滤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机制: 组级信号强度检测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对每组特征计算平均单特征 AUC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avg_AUC = mean(max(AUC_i, 1-AUC_i))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丢弃 avg AUC &lt; 0.52 的组 (近随机)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余下特征 + 30 token → 组合训练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只用训练集评估 → 不泄露测试信息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O(n·p) 开销 → 几秒完成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跨数据集 Auto-Filter 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2FF"/>
                </a:solidFill>
                <a:latin typeface="Calibri"/>
              </a:defRPr>
            </a:pPr>
            <a:r>
              <a:t>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828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2FF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1828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2FF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RAID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3774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23774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0.9992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71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SemEval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971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0.8443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971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0.9763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5661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TuringBench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5661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0.9847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35661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0.9847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0" y="26517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AA"/>
                </a:solidFill>
                <a:latin typeface="Calibri"/>
              </a:defRPr>
            </a:pPr>
            <a:r>
              <a:t>drop 2 组 (无影响)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246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AA"/>
                </a:solidFill>
                <a:latin typeface="Calibri"/>
              </a:defRPr>
            </a:pPr>
            <a:r>
              <a:t>drop 全部9组 → tok-only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8404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AA"/>
                </a:solidFill>
                <a:latin typeface="Calibri"/>
              </a:defRPr>
            </a:pPr>
            <a:r>
              <a:t>drop 0 组 (无影响)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292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Auto-Filter 是"只赚不赔"策略: RAID/TuringBench 性能不变, SemEval AUC 从 0.84 恢复到 0.98</a:t>
            </a:r>
            <a:br/>
            <a:r>
              <a:t>已集成到项目 pipeline: src/auto_filter.py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RAID vs HC3: 特征组消融对比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特征组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RAID AUC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HC3 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启示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basic_counts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0.9204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averages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0.9425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lexical_richness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0.8861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更强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readability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远优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perplexity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0.4920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0.9912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完全反转!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embedding_pca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0.8972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接近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核心启示: 多模型检测不能依赖单一语言模型的困惑度 — 需要模型无关的统计特征作为稳定基线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1. XGBoost + 120 维组合特征在 RAID 上达到 AUC 0.9992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完全可解释，超越零样本方法 Fast-DetectGPT (0.7815)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2. 两类特征视角正交，互补覆盖盲区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手工特征看"文本外表"，Token 特征看"AI 内在"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3. GPT-2 困惑度的 Paradox 是重要发现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HC3 最强 (0.99) → RAID 完全失效 (0.49)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4. 统计特征对 10/11 种对抗攻击天然鲁棒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只有释义攻击能显著降低检测效果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5. Token 概率特征有"时代窗口"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观察者模型需要与目标生成器同代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未来方向与部署建议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未来工作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引入语义相似度特征防御释义攻击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多观察者模型集成 (Mistral + Qwen + Llama)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动态特征选择: 根据文本领域自动调整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探索更多 token 统计: burstiness, curvature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在 SemEval/TuringBench 全量数据验证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部署建议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以模型无关的手工特征作为稳定基线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辅以同代 LLM token 特征覆盖新生成器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观察者模型需要定期更新 (半年一次)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跨域部署需注意领域差异 (诗歌 vs 新闻)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提供 SHAP 解释以增强用户信任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D2FF"/>
                </a:solidFill>
                <a:latin typeface="Calibri"/>
              </a:defRPr>
            </a:pPr>
            <a:r>
              <a:t>"手工特征看文本的外表，Token 概率特征看文本在 AI 眼中的内在。</a:t>
            </a:r>
            <a:br/>
            <a:r>
              <a:t>当一个视角被欺骗时，另一个视角往往能看穿。这就是 120 维组合的力量。"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D2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657600"/>
            <a:ext cx="4572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"/>
              </a:defRPr>
            </a:pPr>
            <a: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  <a:latin typeface="Calibri"/>
              </a:defRPr>
            </a:pPr>
            <a:r>
              <a:t>代码: github.com/HaibinLai/HC3  |  赖海斌  |  CS306 数据挖掘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